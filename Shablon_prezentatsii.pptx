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66" r:id="rId6"/>
    <p:sldId id="259" r:id="rId7"/>
    <p:sldId id="265" r:id="rId8"/>
    <p:sldId id="267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203" d="100"/>
          <a:sy n="203" d="100"/>
        </p:scale>
        <p:origin x="594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45509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b5bcb53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b5bcb53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678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b5bcb53e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b5bcb53e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889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b5bcb53e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ab5bcb53e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1359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b5bcb53e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ab5bcb53e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591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b5bcb53e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ab5bcb53e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3091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c3ec62b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c3ec62b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2317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b5bcb53e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ab5bcb53e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651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b5bcb53e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ab5bcb53e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889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95F582E0-8A9A-4FE3-86A3-FA571F6A3DD1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8440" y="239283"/>
            <a:ext cx="2263860" cy="62177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159EE0D-9BE6-4809-A55D-3F53D3523B8A}"/>
              </a:ext>
            </a:extLst>
          </p:cNvPr>
          <p:cNvSpPr/>
          <p:nvPr userDrawn="1"/>
        </p:nvSpPr>
        <p:spPr>
          <a:xfrm>
            <a:off x="3802380" y="239283"/>
            <a:ext cx="2682240" cy="6751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000" cap="all" spc="100" dirty="0">
                <a:solidFill>
                  <a:srgbClr val="002060"/>
                </a:solidFill>
              </a:rPr>
              <a:t>Искусственный интеллект</a:t>
            </a:r>
            <a:r>
              <a:rPr lang="ru-RU" sz="1000" cap="all" dirty="0">
                <a:solidFill>
                  <a:srgbClr val="002060"/>
                </a:solidFill>
              </a:rPr>
              <a:t> и </a:t>
            </a:r>
            <a:br>
              <a:rPr lang="ru-RU" sz="1000" cap="all" dirty="0">
                <a:solidFill>
                  <a:srgbClr val="002060"/>
                </a:solidFill>
              </a:rPr>
            </a:br>
            <a:r>
              <a:rPr lang="ru-RU" sz="1000" cap="all" spc="-10" baseline="0" dirty="0">
                <a:solidFill>
                  <a:srgbClr val="002060"/>
                </a:solidFill>
              </a:rPr>
              <a:t>автономные системы управления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24E2C249-D3D0-40D8-8CE4-F8C733C7AA3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02640" y="142483"/>
            <a:ext cx="1514072" cy="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7B0AAC8-AB8F-4985-89D6-D67056F5730C}"/>
              </a:ext>
            </a:extLst>
          </p:cNvPr>
          <p:cNvSpPr/>
          <p:nvPr userDrawn="1"/>
        </p:nvSpPr>
        <p:spPr>
          <a:xfrm>
            <a:off x="5100808" y="94062"/>
            <a:ext cx="2217420" cy="464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800" cap="all" spc="100" dirty="0">
                <a:solidFill>
                  <a:srgbClr val="002060"/>
                </a:solidFill>
              </a:rPr>
              <a:t>Искусственный интеллект</a:t>
            </a:r>
            <a:r>
              <a:rPr lang="ru-RU" sz="800" cap="all" dirty="0">
                <a:solidFill>
                  <a:srgbClr val="002060"/>
                </a:solidFill>
              </a:rPr>
              <a:t> и </a:t>
            </a:r>
            <a:br>
              <a:rPr lang="ru-RU" sz="800" cap="all" dirty="0">
                <a:solidFill>
                  <a:srgbClr val="002060"/>
                </a:solidFill>
              </a:rPr>
            </a:br>
            <a:r>
              <a:rPr lang="ru-RU" sz="800" cap="all" dirty="0">
                <a:solidFill>
                  <a:srgbClr val="002060"/>
                </a:solidFill>
              </a:rPr>
              <a:t>автономные системы управления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6" name="Google Shape;56;p13">
            <a:extLst>
              <a:ext uri="{FF2B5EF4-FFF2-40B4-BE49-F238E27FC236}">
                <a16:creationId xmlns:a16="http://schemas.microsoft.com/office/drawing/2014/main" id="{5A6E2322-8BE3-40F7-AE44-82D61F2CE4E7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02640" y="142483"/>
            <a:ext cx="1514072" cy="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3D5F7BC-30F8-43FE-A972-80FA66CB9389}"/>
              </a:ext>
            </a:extLst>
          </p:cNvPr>
          <p:cNvSpPr/>
          <p:nvPr userDrawn="1"/>
        </p:nvSpPr>
        <p:spPr>
          <a:xfrm>
            <a:off x="5100808" y="94062"/>
            <a:ext cx="2217420" cy="464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800" cap="all" spc="100" dirty="0">
                <a:solidFill>
                  <a:srgbClr val="002060"/>
                </a:solidFill>
              </a:rPr>
              <a:t>Искусственный интеллект</a:t>
            </a:r>
            <a:r>
              <a:rPr lang="ru-RU" sz="800" cap="all" dirty="0">
                <a:solidFill>
                  <a:srgbClr val="002060"/>
                </a:solidFill>
              </a:rPr>
              <a:t> и </a:t>
            </a:r>
            <a:br>
              <a:rPr lang="ru-RU" sz="800" cap="all" dirty="0">
                <a:solidFill>
                  <a:srgbClr val="002060"/>
                </a:solidFill>
              </a:rPr>
            </a:br>
            <a:r>
              <a:rPr lang="ru-RU" sz="800" cap="all" dirty="0">
                <a:solidFill>
                  <a:srgbClr val="002060"/>
                </a:solidFill>
              </a:rPr>
              <a:t>автономные системы управления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B273D61-D20A-464D-B6CC-75C13701EEB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02640" y="142483"/>
            <a:ext cx="1514072" cy="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F977539-B2A3-44E6-8055-4E3A7A4ABAF1}"/>
              </a:ext>
            </a:extLst>
          </p:cNvPr>
          <p:cNvSpPr/>
          <p:nvPr userDrawn="1"/>
        </p:nvSpPr>
        <p:spPr>
          <a:xfrm>
            <a:off x="5100808" y="94062"/>
            <a:ext cx="2217420" cy="464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800" cap="all" spc="100" dirty="0">
                <a:solidFill>
                  <a:srgbClr val="002060"/>
                </a:solidFill>
              </a:rPr>
              <a:t>Искусственный интеллект</a:t>
            </a:r>
            <a:r>
              <a:rPr lang="ru-RU" sz="800" cap="all" dirty="0">
                <a:solidFill>
                  <a:srgbClr val="002060"/>
                </a:solidFill>
              </a:rPr>
              <a:t> и </a:t>
            </a:r>
            <a:br>
              <a:rPr lang="ru-RU" sz="800" cap="all" dirty="0">
                <a:solidFill>
                  <a:srgbClr val="002060"/>
                </a:solidFill>
              </a:rPr>
            </a:br>
            <a:r>
              <a:rPr lang="ru-RU" sz="800" cap="all" dirty="0">
                <a:solidFill>
                  <a:srgbClr val="002060"/>
                </a:solidFill>
              </a:rPr>
              <a:t>автономные системы управления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3423502F-9869-4EFA-A979-39AC3AD9901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02640" y="142483"/>
            <a:ext cx="1514072" cy="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15B08A-40E7-4244-8FC4-F76B6A05ACC6}"/>
              </a:ext>
            </a:extLst>
          </p:cNvPr>
          <p:cNvSpPr/>
          <p:nvPr userDrawn="1"/>
        </p:nvSpPr>
        <p:spPr>
          <a:xfrm>
            <a:off x="5100808" y="94062"/>
            <a:ext cx="2217420" cy="464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800" cap="all" spc="100" dirty="0">
                <a:solidFill>
                  <a:srgbClr val="002060"/>
                </a:solidFill>
              </a:rPr>
              <a:t>Искусственный интеллект</a:t>
            </a:r>
            <a:r>
              <a:rPr lang="ru-RU" sz="800" cap="all" dirty="0">
                <a:solidFill>
                  <a:srgbClr val="002060"/>
                </a:solidFill>
              </a:rPr>
              <a:t> и </a:t>
            </a:r>
            <a:br>
              <a:rPr lang="ru-RU" sz="800" cap="all" dirty="0">
                <a:solidFill>
                  <a:srgbClr val="002060"/>
                </a:solidFill>
              </a:rPr>
            </a:br>
            <a:r>
              <a:rPr lang="ru-RU" sz="800" cap="all" dirty="0">
                <a:solidFill>
                  <a:srgbClr val="002060"/>
                </a:solidFill>
              </a:rPr>
              <a:t>автономные системы управления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9DA5EEF-8291-4BD0-8E78-4842B5458ED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02640" y="142483"/>
            <a:ext cx="1514072" cy="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58F26D0-3118-43B7-A707-817B1803EC76}"/>
              </a:ext>
            </a:extLst>
          </p:cNvPr>
          <p:cNvSpPr/>
          <p:nvPr userDrawn="1"/>
        </p:nvSpPr>
        <p:spPr>
          <a:xfrm>
            <a:off x="5100808" y="94062"/>
            <a:ext cx="2217420" cy="464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800" cap="all" spc="100" dirty="0">
                <a:solidFill>
                  <a:srgbClr val="002060"/>
                </a:solidFill>
              </a:rPr>
              <a:t>Искусственный интеллект</a:t>
            </a:r>
            <a:r>
              <a:rPr lang="ru-RU" sz="800" cap="all" dirty="0">
                <a:solidFill>
                  <a:srgbClr val="002060"/>
                </a:solidFill>
              </a:rPr>
              <a:t> и </a:t>
            </a:r>
            <a:br>
              <a:rPr lang="ru-RU" sz="800" cap="all" dirty="0">
                <a:solidFill>
                  <a:srgbClr val="002060"/>
                </a:solidFill>
              </a:rPr>
            </a:br>
            <a:r>
              <a:rPr lang="ru-RU" sz="800" cap="all" dirty="0">
                <a:solidFill>
                  <a:srgbClr val="002060"/>
                </a:solidFill>
              </a:rPr>
              <a:t>автономные системы управления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0" y="1863275"/>
            <a:ext cx="9144000" cy="17703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indent="0">
              <a:lnSpc>
                <a:spcPct val="115000"/>
              </a:lnSpc>
            </a:pPr>
            <a:r>
              <a:rPr lang="ru-RU" sz="2000" dirty="0">
                <a:solidFill>
                  <a:schemeClr val="tx1"/>
                </a:solidFill>
              </a:rPr>
              <a:t>Улучшение качества подводных видео с использованием </a:t>
            </a:r>
            <a:r>
              <a:rPr lang="ru-RU" sz="2000" dirty="0" err="1">
                <a:solidFill>
                  <a:schemeClr val="tx1"/>
                </a:solidFill>
              </a:rPr>
              <a:t>нейросетевых</a:t>
            </a:r>
            <a:r>
              <a:rPr lang="ru-RU" sz="2000" dirty="0">
                <a:solidFill>
                  <a:schemeClr val="tx1"/>
                </a:solidFill>
              </a:rPr>
              <a:t> методов</a:t>
            </a:r>
          </a:p>
          <a:p>
            <a:pPr marL="914400" indent="0" algn="l">
              <a:lnSpc>
                <a:spcPct val="115000"/>
              </a:lnSpc>
            </a:pPr>
            <a:endParaRPr lang="ru" sz="2000" dirty="0">
              <a:solidFill>
                <a:schemeClr val="tx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0" y="60639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Команда проекта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0" y="1739152"/>
            <a:ext cx="9144000" cy="34043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>
                <a:solidFill>
                  <a:schemeClr val="tx1"/>
                </a:solidFill>
              </a:rPr>
              <a:t>НАСТАВНИК - Ляшко А.Д.</a:t>
            </a:r>
          </a:p>
          <a:p>
            <a:r>
              <a:rPr lang="ru-RU" b="1" dirty="0">
                <a:solidFill>
                  <a:schemeClr val="tx1"/>
                </a:solidFill>
              </a:rPr>
              <a:t>Макаров Д.А. </a:t>
            </a:r>
            <a:r>
              <a:rPr lang="ru-RU" sz="2000" b="1" dirty="0">
                <a:solidFill>
                  <a:schemeClr val="tx1"/>
                </a:solidFill>
              </a:rPr>
              <a:t>- </a:t>
            </a:r>
            <a:r>
              <a:rPr lang="ru-RU" sz="2000" dirty="0">
                <a:solidFill>
                  <a:schemeClr val="tx1"/>
                </a:solidFill>
              </a:rPr>
              <a:t>разработка алгоритмов, интеграция </a:t>
            </a:r>
          </a:p>
          <a:p>
            <a:r>
              <a:rPr lang="ru-RU" b="1" dirty="0" err="1">
                <a:solidFill>
                  <a:schemeClr val="tx1"/>
                </a:solidFill>
              </a:rPr>
              <a:t>Талымонюк</a:t>
            </a:r>
            <a:r>
              <a:rPr lang="ru-RU" b="1" dirty="0">
                <a:solidFill>
                  <a:schemeClr val="tx1"/>
                </a:solidFill>
              </a:rPr>
              <a:t>  Б.С. - </a:t>
            </a:r>
            <a:r>
              <a:rPr lang="ru-RU" dirty="0">
                <a:solidFill>
                  <a:schemeClr val="tx1"/>
                </a:solidFill>
              </a:rPr>
              <a:t>тестирование, анализ результатов </a:t>
            </a:r>
            <a:r>
              <a:rPr lang="ru-RU" b="1" dirty="0">
                <a:solidFill>
                  <a:schemeClr val="tx1"/>
                </a:solidFill>
              </a:rPr>
              <a:t> </a:t>
            </a:r>
            <a:endParaRPr lang="ru-RU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Проблема</a:t>
            </a:r>
            <a:endParaRPr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9217BA68-AD70-4ACB-BFBA-FE2FA29E7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>
                <a:solidFill>
                  <a:schemeClr val="tx1"/>
                </a:solidFill>
              </a:rPr>
              <a:t>В процессе подводной съемки (научные исследования, дайвинг, подводная инспекция) у пользователей возникают сильные искажения видео: преобладание сине-зеленых тонов, низкая контрастность, размытость деталей.</a:t>
            </a:r>
          </a:p>
          <a:p>
            <a:pPr marL="114300" indent="0">
              <a:buNone/>
            </a:pPr>
            <a:r>
              <a:rPr lang="ru-RU" sz="1200" b="1" dirty="0">
                <a:solidFill>
                  <a:schemeClr val="tx1"/>
                </a:solidFill>
              </a:rPr>
              <a:t>Почему существующие решения неэффективны:</a:t>
            </a:r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>
                <a:solidFill>
                  <a:schemeClr val="tx1"/>
                </a:solidFill>
              </a:rPr>
              <a:t>Традиционные фильтры (</a:t>
            </a:r>
            <a:r>
              <a:rPr lang="ru-RU" sz="1200" dirty="0" err="1">
                <a:solidFill>
                  <a:schemeClr val="tx1"/>
                </a:solidFill>
              </a:rPr>
              <a:t>цветокоррекция</a:t>
            </a:r>
            <a:r>
              <a:rPr lang="ru-RU" sz="1200" dirty="0">
                <a:solidFill>
                  <a:schemeClr val="tx1"/>
                </a:solidFill>
              </a:rPr>
              <a:t>, контраст) дают неестественный результат</a:t>
            </a:r>
          </a:p>
          <a:p>
            <a:r>
              <a:rPr lang="ru-RU" sz="1200" dirty="0">
                <a:solidFill>
                  <a:schemeClr val="tx1"/>
                </a:solidFill>
              </a:rPr>
              <a:t>Сложные профессиональные ПО (</a:t>
            </a:r>
            <a:r>
              <a:rPr lang="ru-RU" sz="1200" dirty="0" err="1">
                <a:solidFill>
                  <a:schemeClr val="tx1"/>
                </a:solidFill>
              </a:rPr>
              <a:t>Adobe</a:t>
            </a:r>
            <a:r>
              <a:rPr lang="ru-RU" sz="1200" dirty="0">
                <a:solidFill>
                  <a:schemeClr val="tx1"/>
                </a:solidFill>
              </a:rPr>
              <a:t>, </a:t>
            </a:r>
            <a:r>
              <a:rPr lang="ru-RU" sz="1200" dirty="0" err="1">
                <a:solidFill>
                  <a:schemeClr val="tx1"/>
                </a:solidFill>
              </a:rPr>
              <a:t>DaVinci</a:t>
            </a:r>
            <a:r>
              <a:rPr lang="ru-RU" sz="1200" dirty="0">
                <a:solidFill>
                  <a:schemeClr val="tx1"/>
                </a:solidFill>
              </a:rPr>
              <a:t>) требуют ручной настройки кадра за кадром</a:t>
            </a:r>
          </a:p>
          <a:p>
            <a:r>
              <a:rPr lang="ru-RU" sz="1200" dirty="0">
                <a:solidFill>
                  <a:schemeClr val="tx1"/>
                </a:solidFill>
              </a:rPr>
              <a:t>Решения в реальном времени для подводных аппаратов (AUV/ROV) либо медленные, либо некачественные</a:t>
            </a:r>
          </a:p>
          <a:p>
            <a:pPr marL="114300" indent="0">
              <a:buNone/>
            </a:pPr>
            <a:r>
              <a:rPr lang="ru-RU" sz="1200" b="1" dirty="0">
                <a:solidFill>
                  <a:schemeClr val="tx1"/>
                </a:solidFill>
              </a:rPr>
              <a:t>Последствия:</a:t>
            </a:r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>
                <a:solidFill>
                  <a:schemeClr val="tx1"/>
                </a:solidFill>
              </a:rPr>
              <a:t>Снижение эффективности научного анализа</a:t>
            </a:r>
          </a:p>
          <a:p>
            <a:r>
              <a:rPr lang="ru-RU" sz="1200" dirty="0">
                <a:solidFill>
                  <a:schemeClr val="tx1"/>
                </a:solidFill>
              </a:rPr>
              <a:t>Плохая навигация автономных аппаратов</a:t>
            </a:r>
          </a:p>
          <a:p>
            <a:r>
              <a:rPr lang="ru-RU" sz="1200" dirty="0">
                <a:solidFill>
                  <a:schemeClr val="tx1"/>
                </a:solidFill>
              </a:rPr>
              <a:t>Низкое качество контента для туризма и </a:t>
            </a:r>
            <a:r>
              <a:rPr lang="ru-RU" sz="1200" dirty="0" err="1">
                <a:solidFill>
                  <a:schemeClr val="tx1"/>
                </a:solidFill>
              </a:rPr>
              <a:t>документалистики</a:t>
            </a:r>
            <a:endParaRPr lang="ru-RU" sz="12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ru-RU" sz="1200" b="1" dirty="0">
                <a:solidFill>
                  <a:schemeClr val="tx1"/>
                </a:solidFill>
              </a:rPr>
              <a:t>Формула:</a:t>
            </a:r>
            <a:r>
              <a:rPr lang="ru-RU" sz="1200" dirty="0">
                <a:solidFill>
                  <a:schemeClr val="tx1"/>
                </a:solidFill>
              </a:rPr>
              <a:t> При подводной видеосъемке у исследователей и операторов происходит потеря цветовой информации и детализации, что приводит к снижению точности анализа и качества визуального контента.</a:t>
            </a:r>
          </a:p>
          <a:p>
            <a:pPr marL="11430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Решение</a:t>
            </a: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017724"/>
            <a:ext cx="8520600" cy="4125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ru-RU" sz="1400" b="1" dirty="0">
                <a:solidFill>
                  <a:schemeClr val="tx1"/>
                </a:solidFill>
              </a:rPr>
              <a:t>Суть решения:</a:t>
            </a:r>
            <a:r>
              <a:rPr lang="ru-RU" sz="1400" dirty="0">
                <a:solidFill>
                  <a:schemeClr val="tx1"/>
                </a:solidFill>
              </a:rPr>
              <a:t> Система автоматической обработки подводного видео с использованием двух комплементарных </a:t>
            </a:r>
            <a:r>
              <a:rPr lang="ru-RU" sz="1400" dirty="0" err="1">
                <a:solidFill>
                  <a:schemeClr val="tx1"/>
                </a:solidFill>
              </a:rPr>
              <a:t>нейросетевых</a:t>
            </a:r>
            <a:r>
              <a:rPr lang="ru-RU" sz="1400" dirty="0">
                <a:solidFill>
                  <a:schemeClr val="tx1"/>
                </a:solidFill>
              </a:rPr>
              <a:t> архитектур для поэтапного улучшения качества в реальном времени.</a:t>
            </a:r>
            <a:br>
              <a:rPr lang="ru" sz="1400" dirty="0">
                <a:solidFill>
                  <a:schemeClr val="tx1"/>
                </a:solidFill>
              </a:rPr>
            </a:b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b="1" dirty="0">
                <a:solidFill>
                  <a:schemeClr val="tx1"/>
                </a:solidFill>
              </a:rPr>
              <a:t>Научно-технологическая основа:</a:t>
            </a: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 err="1">
                <a:solidFill>
                  <a:schemeClr val="tx1"/>
                </a:solidFill>
              </a:rPr>
              <a:t>Two-Phase</a:t>
            </a:r>
            <a:r>
              <a:rPr lang="ru-RU" sz="1400" dirty="0">
                <a:solidFill>
                  <a:schemeClr val="tx1"/>
                </a:solidFill>
              </a:rPr>
              <a:t>: адаптивное многомасштабное повышение резкости с механизмом внимания</a:t>
            </a:r>
          </a:p>
          <a:p>
            <a:r>
              <a:rPr lang="ru-RU" sz="1400" dirty="0" err="1">
                <a:solidFill>
                  <a:schemeClr val="tx1"/>
                </a:solidFill>
              </a:rPr>
              <a:t>FUnIE</a:t>
            </a:r>
            <a:r>
              <a:rPr lang="ru-RU" sz="1400" dirty="0">
                <a:solidFill>
                  <a:schemeClr val="tx1"/>
                </a:solidFill>
              </a:rPr>
              <a:t>-GAN: </a:t>
            </a:r>
            <a:r>
              <a:rPr lang="ru-RU" sz="1400" dirty="0" err="1">
                <a:solidFill>
                  <a:schemeClr val="tx1"/>
                </a:solidFill>
              </a:rPr>
              <a:t>генеративно</a:t>
            </a:r>
            <a:r>
              <a:rPr lang="ru-RU" sz="1400" dirty="0">
                <a:solidFill>
                  <a:schemeClr val="tx1"/>
                </a:solidFill>
              </a:rPr>
              <a:t>-состязательная сеть, оптимизированная для скорости и реалистичности</a:t>
            </a:r>
          </a:p>
          <a:p>
            <a:pPr marL="114300" indent="0">
              <a:buNone/>
            </a:pPr>
            <a:r>
              <a:rPr lang="ru-RU" sz="1400" b="1" dirty="0">
                <a:solidFill>
                  <a:schemeClr val="tx1"/>
                </a:solidFill>
              </a:rPr>
              <a:t>Технические параметры:</a:t>
            </a: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Обработка: 20-30 FPS на GPU</a:t>
            </a:r>
          </a:p>
          <a:p>
            <a:r>
              <a:rPr lang="ru-RU" sz="1400" dirty="0">
                <a:solidFill>
                  <a:schemeClr val="tx1"/>
                </a:solidFill>
              </a:rPr>
              <a:t>Форматы: MP4, AVI, стандартные </a:t>
            </a:r>
            <a:r>
              <a:rPr lang="ru-RU" sz="1400" dirty="0" err="1">
                <a:solidFill>
                  <a:schemeClr val="tx1"/>
                </a:solidFill>
              </a:rPr>
              <a:t>видеоформаты</a:t>
            </a:r>
            <a:endParaRPr lang="ru-RU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ru-RU" sz="1400" b="1" dirty="0">
                <a:solidFill>
                  <a:schemeClr val="tx1"/>
                </a:solidFill>
              </a:rPr>
              <a:t>Уникальность:</a:t>
            </a:r>
            <a:r>
              <a:rPr lang="ru-RU" sz="1400" dirty="0">
                <a:solidFill>
                  <a:schemeClr val="tx1"/>
                </a:solidFill>
              </a:rPr>
              <a:t> Комбинированный подход — сначала </a:t>
            </a:r>
            <a:r>
              <a:rPr lang="ru-RU" sz="1400" dirty="0" err="1">
                <a:solidFill>
                  <a:schemeClr val="tx1"/>
                </a:solidFill>
              </a:rPr>
              <a:t>FUnIE</a:t>
            </a:r>
            <a:r>
              <a:rPr lang="ru-RU" sz="1400" dirty="0">
                <a:solidFill>
                  <a:schemeClr val="tx1"/>
                </a:solidFill>
              </a:rPr>
              <a:t>-GAN для быстрой </a:t>
            </a:r>
            <a:r>
              <a:rPr lang="ru-RU" sz="1400" dirty="0" err="1">
                <a:solidFill>
                  <a:schemeClr val="tx1"/>
                </a:solidFill>
              </a:rPr>
              <a:t>цветокоррекции</a:t>
            </a:r>
            <a:r>
              <a:rPr lang="ru-RU" sz="1400" dirty="0">
                <a:solidFill>
                  <a:schemeClr val="tx1"/>
                </a:solidFill>
              </a:rPr>
              <a:t> и осветления, затем </a:t>
            </a:r>
            <a:r>
              <a:rPr lang="ru-RU" sz="1400" dirty="0" err="1">
                <a:solidFill>
                  <a:schemeClr val="tx1"/>
                </a:solidFill>
              </a:rPr>
              <a:t>Two-Phase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Network</a:t>
            </a:r>
            <a:r>
              <a:rPr lang="ru-RU" sz="1400" dirty="0">
                <a:solidFill>
                  <a:schemeClr val="tx1"/>
                </a:solidFill>
              </a:rPr>
              <a:t> для точечного улучшения деталей в ключевых областях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Clr>
                <a:schemeClr val="dk1"/>
              </a:buClr>
              <a:buSzPts val="1100"/>
              <a:buNone/>
            </a:pPr>
            <a:endParaRPr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37206" y="40020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Прототип</a:t>
            </a: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ru-RU" b="1" dirty="0">
                <a:solidFill>
                  <a:schemeClr val="tx1"/>
                </a:solidFill>
              </a:rPr>
              <a:t>К концу семестра: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Рабочий прототип на </a:t>
            </a:r>
            <a:r>
              <a:rPr lang="ru-RU" dirty="0" err="1">
                <a:solidFill>
                  <a:schemeClr val="tx1"/>
                </a:solidFill>
              </a:rPr>
              <a:t>Python</a:t>
            </a:r>
            <a:r>
              <a:rPr lang="ru-RU" dirty="0">
                <a:solidFill>
                  <a:schemeClr val="tx1"/>
                </a:solidFill>
              </a:rPr>
              <a:t> с интерфейсом командной строки</a:t>
            </a:r>
          </a:p>
          <a:p>
            <a:r>
              <a:rPr lang="ru-RU" dirty="0">
                <a:solidFill>
                  <a:schemeClr val="tx1"/>
                </a:solidFill>
              </a:rPr>
              <a:t>Интеграция обеих моделей в единый </a:t>
            </a:r>
            <a:r>
              <a:rPr lang="ru-RU" dirty="0" err="1">
                <a:solidFill>
                  <a:schemeClr val="tx1"/>
                </a:solidFill>
              </a:rPr>
              <a:t>пайплайн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Примеры обработки тестовых видеофрагментов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ru-RU" b="1" dirty="0">
                <a:solidFill>
                  <a:schemeClr val="tx1"/>
                </a:solidFill>
              </a:rPr>
              <a:t>К концу учебного года: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Веб-интерфейс для загрузки и обработки видео</a:t>
            </a:r>
          </a:p>
          <a:p>
            <a:r>
              <a:rPr lang="ru-RU" dirty="0">
                <a:solidFill>
                  <a:schemeClr val="tx1"/>
                </a:solidFill>
              </a:rPr>
              <a:t>Пакетная обработка длинных видео</a:t>
            </a:r>
          </a:p>
          <a:p>
            <a:r>
              <a:rPr lang="ru-RU" dirty="0">
                <a:solidFill>
                  <a:schemeClr val="tx1"/>
                </a:solidFill>
              </a:rPr>
              <a:t>Поддержка RTSP-потоков для онлайн-обработки</a:t>
            </a:r>
          </a:p>
          <a:p>
            <a:pPr marL="114300" indent="0">
              <a:buNone/>
            </a:pPr>
            <a:br>
              <a:rPr lang="ru-RU" sz="2000" dirty="0"/>
            </a:br>
            <a:endParaRPr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08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Аналоги</a:t>
            </a:r>
            <a:endParaRPr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6EDCE1D-E178-334C-9B7F-FCB39DCF2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478351"/>
              </p:ext>
            </p:extLst>
          </p:nvPr>
        </p:nvGraphicFramePr>
        <p:xfrm>
          <a:off x="311700" y="1181264"/>
          <a:ext cx="8433949" cy="3613144"/>
        </p:xfrm>
        <a:graphic>
          <a:graphicData uri="http://schemas.openxmlformats.org/drawingml/2006/table">
            <a:tbl>
              <a:tblPr/>
              <a:tblGrid>
                <a:gridCol w="2309765">
                  <a:extLst>
                    <a:ext uri="{9D8B030D-6E8A-4147-A177-3AD203B41FA5}">
                      <a16:colId xmlns:a16="http://schemas.microsoft.com/office/drawing/2014/main" val="2930295798"/>
                    </a:ext>
                  </a:extLst>
                </a:gridCol>
                <a:gridCol w="1251288">
                  <a:extLst>
                    <a:ext uri="{9D8B030D-6E8A-4147-A177-3AD203B41FA5}">
                      <a16:colId xmlns:a16="http://schemas.microsoft.com/office/drawing/2014/main" val="1498788474"/>
                    </a:ext>
                  </a:extLst>
                </a:gridCol>
                <a:gridCol w="1845917">
                  <a:extLst>
                    <a:ext uri="{9D8B030D-6E8A-4147-A177-3AD203B41FA5}">
                      <a16:colId xmlns:a16="http://schemas.microsoft.com/office/drawing/2014/main" val="596830840"/>
                    </a:ext>
                  </a:extLst>
                </a:gridCol>
                <a:gridCol w="3026979">
                  <a:extLst>
                    <a:ext uri="{9D8B030D-6E8A-4147-A177-3AD203B41FA5}">
                      <a16:colId xmlns:a16="http://schemas.microsoft.com/office/drawing/2014/main" val="3843296375"/>
                    </a:ext>
                  </a:extLst>
                </a:gridCol>
              </a:tblGrid>
              <a:tr h="47206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Название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Преимущества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(с точки зрения пользователя)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Недостатки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(с точки зрения пользователя)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Отличия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(от вашего решения)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330826"/>
                  </a:ext>
                </a:extLst>
              </a:tr>
              <a:tr h="905668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Традиционные методы (гистограммная коррекция)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Быстрые, простые</a:t>
                      </a:r>
                    </a:p>
                  </a:txBody>
                  <a:tcPr marL="152400" marR="152400" marT="95250" marB="95250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Не адаптивные, неестественные цвета</a:t>
                      </a:r>
                      <a:endParaRPr lang="ru-RU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Адаптивное улучшение с учетом семантики сцены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8009"/>
                  </a:ext>
                </a:extLst>
              </a:tr>
              <a:tr h="709848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Water-Net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Хорошее качество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Медленные, не для видео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Комбинация скорости (</a:t>
                      </a:r>
                      <a:r>
                        <a:rPr lang="ru-RU" sz="14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FUnIE</a:t>
                      </a: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-GAN) и качества детализации (</a:t>
                      </a:r>
                      <a:r>
                        <a:rPr lang="ru-RU" sz="14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Two-Phase</a:t>
                      </a: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196250"/>
                  </a:ext>
                </a:extLst>
              </a:tr>
              <a:tr h="709848">
                <a:tc>
                  <a:txBody>
                    <a:bodyPr/>
                    <a:lstStyle/>
                    <a:p>
                      <a:pPr fontAlgn="t"/>
                      <a:r>
                        <a:rPr lang="ru-RU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Коммерческие ПО (</a:t>
                      </a:r>
                      <a:r>
                        <a:rPr lang="en-US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Topaz, Adobe)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Мощные инструменты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Требуют ручной работы, дорогие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Полная автоматизация, работа в реальном времени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428723"/>
                  </a:ext>
                </a:extLst>
              </a:tr>
              <a:tr h="709848"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ru-RU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Портативные подводные фильтры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Физическое решение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Ограниченный эффект, для фото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Программное решение для любого видео, включая архивное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7833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0" y="4450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Текущий результат</a:t>
            </a:r>
            <a:endParaRPr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9217BA68-AD70-4ACB-BFBA-FE2FA29E7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34545"/>
            <a:ext cx="8520600" cy="3416400"/>
          </a:xfrm>
        </p:spPr>
        <p:txBody>
          <a:bodyPr/>
          <a:lstStyle/>
          <a:p>
            <a:pPr marL="114300" indent="0">
              <a:buNone/>
            </a:pPr>
            <a:r>
              <a:rPr lang="ru-RU" b="1" dirty="0">
                <a:solidFill>
                  <a:schemeClr val="tx1"/>
                </a:solidFill>
              </a:rPr>
              <a:t>Что сделано: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Проанализированы архитектуры и обучены обе модели на </a:t>
            </a:r>
            <a:r>
              <a:rPr lang="ru-RU" dirty="0" err="1">
                <a:solidFill>
                  <a:schemeClr val="tx1"/>
                </a:solidFill>
              </a:rPr>
              <a:t>датасетах</a:t>
            </a:r>
            <a:r>
              <a:rPr lang="ru-RU" dirty="0">
                <a:solidFill>
                  <a:schemeClr val="tx1"/>
                </a:solidFill>
              </a:rPr>
              <a:t> EUVP и UFO-120</a:t>
            </a:r>
          </a:p>
          <a:p>
            <a:r>
              <a:rPr lang="ru-RU" dirty="0">
                <a:solidFill>
                  <a:schemeClr val="tx1"/>
                </a:solidFill>
              </a:rPr>
              <a:t>Реализован базовый </a:t>
            </a:r>
            <a:r>
              <a:rPr lang="ru-RU" dirty="0" err="1">
                <a:solidFill>
                  <a:schemeClr val="tx1"/>
                </a:solidFill>
              </a:rPr>
              <a:t>пайплайн</a:t>
            </a:r>
            <a:r>
              <a:rPr lang="ru-RU" dirty="0">
                <a:solidFill>
                  <a:schemeClr val="tx1"/>
                </a:solidFill>
              </a:rPr>
              <a:t> для обработки изображений</a:t>
            </a:r>
          </a:p>
          <a:p>
            <a:r>
              <a:rPr lang="ru-RU" dirty="0">
                <a:solidFill>
                  <a:schemeClr val="tx1"/>
                </a:solidFill>
              </a:rPr>
              <a:t>Проведено сравнительное тестирование на тестовых подводных видео</a:t>
            </a:r>
          </a:p>
          <a:p>
            <a:pPr marL="11430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ru-RU" b="1" dirty="0">
                <a:solidFill>
                  <a:schemeClr val="tx1"/>
                </a:solidFill>
              </a:rPr>
              <a:t>Следующие шаги: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Оптимизация </a:t>
            </a:r>
            <a:r>
              <a:rPr lang="ru-RU" dirty="0" err="1">
                <a:solidFill>
                  <a:schemeClr val="tx1"/>
                </a:solidFill>
              </a:rPr>
              <a:t>пайплаина</a:t>
            </a:r>
            <a:r>
              <a:rPr lang="ru-RU" dirty="0">
                <a:solidFill>
                  <a:schemeClr val="tx1"/>
                </a:solidFill>
              </a:rPr>
              <a:t> для видео (обработка кадров с сохранением временной согласованности)</a:t>
            </a:r>
          </a:p>
          <a:p>
            <a:r>
              <a:rPr lang="ru-RU" dirty="0">
                <a:solidFill>
                  <a:schemeClr val="tx1"/>
                </a:solidFill>
              </a:rPr>
              <a:t>Разработка простого GUI на </a:t>
            </a:r>
            <a:r>
              <a:rPr lang="ru-RU" dirty="0" err="1">
                <a:solidFill>
                  <a:schemeClr val="tx1"/>
                </a:solidFill>
              </a:rPr>
              <a:t>Streamlit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Тестирование на реальных видео с подводных камер</a:t>
            </a:r>
          </a:p>
          <a:p>
            <a:pPr marL="11430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557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71782" y="34717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Результаты тестов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2" y="919873"/>
            <a:ext cx="2198779" cy="198710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61" y="919872"/>
            <a:ext cx="2198781" cy="198710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2" y="3030072"/>
            <a:ext cx="2886433" cy="191659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215" y="3030071"/>
            <a:ext cx="2886432" cy="191659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261" y="3011240"/>
            <a:ext cx="3172823" cy="193542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260" y="1094649"/>
            <a:ext cx="3172823" cy="193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703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TM04033921[[fn=Дамаск]]</Template>
  <TotalTime>86</TotalTime>
  <Words>455</Words>
  <Application>Microsoft Office PowerPoint</Application>
  <PresentationFormat>Экран (16:9)</PresentationFormat>
  <Paragraphs>71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quote-cjk-patch</vt:lpstr>
      <vt:lpstr>Simple Light</vt:lpstr>
      <vt:lpstr>Презентация PowerPoint</vt:lpstr>
      <vt:lpstr>Команда проекта</vt:lpstr>
      <vt:lpstr>Проблема</vt:lpstr>
      <vt:lpstr>Решение</vt:lpstr>
      <vt:lpstr>Прототип</vt:lpstr>
      <vt:lpstr>Аналоги</vt:lpstr>
      <vt:lpstr>Текущий результат</vt:lpstr>
      <vt:lpstr>Результаты тестов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Титульный слайд  </dc:title>
  <cp:lastModifiedBy>Pure</cp:lastModifiedBy>
  <cp:revision>24</cp:revision>
  <dcterms:modified xsi:type="dcterms:W3CDTF">2026-01-10T00:47:10Z</dcterms:modified>
</cp:coreProperties>
</file>